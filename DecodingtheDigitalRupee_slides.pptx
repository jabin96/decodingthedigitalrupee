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257" r:id="rId4"/>
    <p:sldId id="258" r:id="rId6"/>
    <p:sldId id="259" r:id="rId7"/>
    <p:sldId id="261" r:id="rId8"/>
    <p:sldId id="265" r:id="rId9"/>
    <p:sldId id="266" r:id="rId10"/>
    <p:sldId id="269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B89696-E2FB-4FF5-9838-B7220DE0AAE4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6E5165-FF0B-49AC-BE87-DCA09C1C5441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2" name="Google Shape;21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9" name="Google Shape;23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6" name="Google Shape;26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82" name="Google Shape;28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B22AE-584D-486A-8FB9-282D9D0575C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82EB-F46D-411B-9771-9D15FC41ED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B22AE-584D-486A-8FB9-282D9D0575C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82EB-F46D-411B-9771-9D15FC41ED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B22AE-584D-486A-8FB9-282D9D0575C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82EB-F46D-411B-9771-9D15FC41ED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B22AE-584D-486A-8FB9-282D9D0575C0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82EB-F46D-411B-9771-9D15FC41ED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B22AE-584D-486A-8FB9-282D9D0575C0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82EB-F46D-411B-9771-9D15FC41ED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B22AE-584D-486A-8FB9-282D9D0575C0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82EB-F46D-411B-9771-9D15FC41ED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B22AE-584D-486A-8FB9-282D9D0575C0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82EB-F46D-411B-9771-9D15FC41ED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B22AE-584D-486A-8FB9-282D9D0575C0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82EB-F46D-411B-9771-9D15FC41ED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B22AE-584D-486A-8FB9-282D9D0575C0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82EB-F46D-411B-9771-9D15FC41ED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B22AE-584D-486A-8FB9-282D9D0575C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82EB-F46D-411B-9771-9D15FC41ED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B22AE-584D-486A-8FB9-282D9D0575C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82EB-F46D-411B-9771-9D15FC41ED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0B22AE-584D-486A-8FB9-282D9D0575C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5C82EB-F46D-411B-9771-9D15FC41ED5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png"/><Relationship Id="rId8" Type="http://schemas.openxmlformats.org/officeDocument/2006/relationships/image" Target="../media/image14.png"/><Relationship Id="rId7" Type="http://schemas.openxmlformats.org/officeDocument/2006/relationships/image" Target="../media/image13.png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2" Type="http://schemas.openxmlformats.org/officeDocument/2006/relationships/notesSlide" Target="../notesSlides/notesSlide3.x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16.png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jpe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99" y="0"/>
            <a:ext cx="1218460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Problem &amp; Motivation</a:t>
            </a:r>
            <a:endParaRPr lang="en-US" sz="3150" b="1" i="0" u="none" strike="noStrike" cap="none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4" name="Google Shape;94;p14"/>
          <p:cNvSpPr/>
          <p:nvPr/>
        </p:nvSpPr>
        <p:spPr>
          <a:xfrm>
            <a:off x="571500" y="1200150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571500" y="1609725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The Challenge</a:t>
            </a:r>
            <a:endParaRPr lang="en-US" sz="2100" b="1" i="0" u="none" strike="noStrike" cap="none">
              <a:solidFill>
                <a:srgbClr val="2563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6334125" y="1609725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Why It Matters?</a:t>
            </a:r>
            <a:endParaRPr lang="en-US" sz="2100" b="1" i="0" u="none" strike="noStrike" cap="none">
              <a:solidFill>
                <a:srgbClr val="2563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857250" y="2076450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Goal: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Forecast the transaction amount (INR) of UPI payments.</a:t>
            </a:r>
            <a:endParaRPr lang="en-US" sz="1500" b="0" i="0" u="none" strike="noStrike" cap="non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857250" y="2800350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Context: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UPI is a high-velocity, high-volume ecosystem central to India's digital economy.</a:t>
            </a:r>
            <a:endParaRPr lang="en-US" sz="1500" b="0" i="0" u="none" strike="noStrike" cap="non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857250" y="3524250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Complexity: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Spending data is highly non-linear and skewed, demanding robust modeling.</a:t>
            </a:r>
            <a:endParaRPr lang="en-US" sz="1500" b="0" i="0" u="none" strike="noStrike" cap="non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6619875" y="2076450"/>
            <a:ext cx="50006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Liquidity Management: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Banks need to forecast payment flows to manage reserves and risk effectively.</a:t>
            </a:r>
            <a:endParaRPr lang="en-US" sz="1500" b="0" i="0" u="none" strike="noStrike" cap="non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6619875" y="3105150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Fraud Detection: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Identifying anomalous amounts that deviate significantly from the prediction.</a:t>
            </a:r>
            <a:endParaRPr lang="en-US" sz="1500" b="0" i="0" u="none" strike="noStrike" cap="non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6619875" y="3829050"/>
            <a:ext cx="50006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Consumer Insights: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Understanding spending across categories and demographic segments for strategic planning.</a:t>
            </a:r>
            <a:endParaRPr lang="en-US" sz="1500" b="0" i="0" u="none" strike="noStrike" cap="non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571500" y="2057400"/>
            <a:ext cx="10477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lang="en-US" sz="1800" b="1" i="0" u="none" strike="noStrike" cap="none">
              <a:solidFill>
                <a:srgbClr val="2563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571500" y="2781300"/>
            <a:ext cx="10477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lang="en-US" sz="1800" b="1" i="0" u="none" strike="noStrike" cap="none">
              <a:solidFill>
                <a:srgbClr val="2563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571500" y="3505200"/>
            <a:ext cx="10477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lang="en-US" sz="1800" b="1" i="0" u="none" strike="noStrike" cap="none">
              <a:solidFill>
                <a:srgbClr val="2563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6334125" y="2057400"/>
            <a:ext cx="10477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lang="en-US" sz="1800" b="1" i="0" u="none" strike="noStrike" cap="none">
              <a:solidFill>
                <a:srgbClr val="2563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6334125" y="3086100"/>
            <a:ext cx="10477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lang="en-US" sz="1800" b="1" i="0" u="none" strike="noStrike" cap="none">
              <a:solidFill>
                <a:srgbClr val="2563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6334125" y="3810000"/>
            <a:ext cx="10477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lang="en-US" sz="1800" b="1" i="0" u="none" strike="noStrike" cap="none">
              <a:solidFill>
                <a:srgbClr val="2563EB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37" y="123825"/>
            <a:ext cx="11972925" cy="66103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25" y="28575"/>
            <a:ext cx="1209675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12" y="19050"/>
            <a:ext cx="12144375" cy="68199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18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88975" y="1404620"/>
            <a:ext cx="5286375" cy="526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18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273800" y="1404620"/>
            <a:ext cx="5286375" cy="526415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8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Data Selection &amp; Cleansing</a:t>
            </a:r>
            <a:endParaRPr lang="en-US" sz="3150" b="1" i="0" u="none" strike="noStrike" cap="none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7" name="Google Shape;217;p18"/>
          <p:cNvSpPr/>
          <p:nvPr/>
        </p:nvSpPr>
        <p:spPr>
          <a:xfrm>
            <a:off x="571500" y="1200150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8"/>
          <p:cNvSpPr txBox="1"/>
          <p:nvPr/>
        </p:nvSpPr>
        <p:spPr>
          <a:xfrm>
            <a:off x="866775" y="1552575"/>
            <a:ext cx="493061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Data Selection &amp; Relevance</a:t>
            </a:r>
            <a:endParaRPr lang="en-US" sz="2100" b="1" i="0" u="none" strike="noStrike" cap="none">
              <a:solidFill>
                <a:srgbClr val="2563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9" name="Google Shape;219;p18"/>
          <p:cNvSpPr txBox="1"/>
          <p:nvPr/>
        </p:nvSpPr>
        <p:spPr>
          <a:xfrm>
            <a:off x="866775" y="1990725"/>
            <a:ext cx="46958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The model focused on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250,000 UPI Transaction Records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selecting features that directly correlate with spending behavior.</a:t>
            </a:r>
            <a:endParaRPr lang="en-US" sz="1500" b="0" i="0" u="none" strike="noStrike" cap="non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0" name="Google Shape;220;p18"/>
          <p:cNvSpPr txBox="1"/>
          <p:nvPr/>
        </p:nvSpPr>
        <p:spPr>
          <a:xfrm>
            <a:off x="6629400" y="1529715"/>
            <a:ext cx="493061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Cleansing &amp; Transformation Steps</a:t>
            </a:r>
            <a:endParaRPr lang="en-US" sz="2100" b="1" i="0" u="none" strike="noStrike" cap="none">
              <a:solidFill>
                <a:srgbClr val="2563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1" name="Google Shape;221;p18"/>
          <p:cNvSpPr txBox="1"/>
          <p:nvPr/>
        </p:nvSpPr>
        <p:spPr>
          <a:xfrm>
            <a:off x="1152525" y="3152775"/>
            <a:ext cx="44100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Target Variable: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Transaction **Amount (INR)** (The quantity we aim to predict).</a:t>
            </a:r>
            <a:endParaRPr lang="en-US" sz="1500" b="0" i="0" u="none" strike="noStrike" cap="non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2" name="Google Shape;222;p18"/>
          <p:cNvSpPr txBox="1"/>
          <p:nvPr/>
        </p:nvSpPr>
        <p:spPr>
          <a:xfrm>
            <a:off x="1152525" y="3912235"/>
            <a:ext cx="44100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Categorical Features: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`Merchant Category` and `Sender/Receiver Bank` (Proxies for spending habits and financial context).</a:t>
            </a:r>
            <a:endParaRPr lang="en-US" sz="1500" b="0" i="0" u="none" strike="noStrike" cap="non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3" name="Google Shape;223;p18"/>
          <p:cNvSpPr txBox="1"/>
          <p:nvPr/>
        </p:nvSpPr>
        <p:spPr>
          <a:xfrm>
            <a:off x="1152525" y="4976495"/>
            <a:ext cx="4695190" cy="110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Contextual Features: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`Device Type` and engineered `Time of Day` (Indicate context of transaction).</a:t>
            </a:r>
            <a:endParaRPr lang="en-US" sz="1500" b="0" i="0" u="none" strike="noStrike" cap="non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4" name="Google Shape;224;p18"/>
          <p:cNvSpPr txBox="1"/>
          <p:nvPr/>
        </p:nvSpPr>
        <p:spPr>
          <a:xfrm>
            <a:off x="1152524" y="5993447"/>
            <a:ext cx="4410075" cy="790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Data Exclusions: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Unique IDs and raw timestamps (Non-predictive, high-cardinality noise).</a:t>
            </a:r>
            <a:endParaRPr dirty="0"/>
          </a:p>
        </p:txBody>
      </p:sp>
      <p:sp>
        <p:nvSpPr>
          <p:cNvPr id="225" name="Google Shape;225;p18"/>
          <p:cNvSpPr txBox="1"/>
          <p:nvPr/>
        </p:nvSpPr>
        <p:spPr>
          <a:xfrm>
            <a:off x="6915150" y="1990725"/>
            <a:ext cx="44100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Missing Data: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**No Missing Values** were identified, eliminating the need for imputation.</a:t>
            </a:r>
            <a:endParaRPr lang="en-US" sz="1500" b="0" i="0" u="none" strike="noStrike" cap="non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6" name="Google Shape;226;p18"/>
          <p:cNvSpPr txBox="1"/>
          <p:nvPr/>
        </p:nvSpPr>
        <p:spPr>
          <a:xfrm>
            <a:off x="6915150" y="2814955"/>
            <a:ext cx="4410075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Handling Skew (Crucial):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The target variable (`amount`) was severely skewed. A **Log Transformation** ($\log(1+x)$) was applied to stabilize the variance and normalize the distribution for modeling.</a:t>
            </a:r>
            <a:endParaRPr dirty="0"/>
          </a:p>
        </p:txBody>
      </p:sp>
      <p:sp>
        <p:nvSpPr>
          <p:cNvPr id="227" name="Google Shape;227;p18"/>
          <p:cNvSpPr txBox="1"/>
          <p:nvPr/>
        </p:nvSpPr>
        <p:spPr>
          <a:xfrm>
            <a:off x="6915150" y="4593590"/>
            <a:ext cx="441007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Feature Encoding: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Categorical features (e.g., `Merchant Category`) were converted to numerical format using **Label Encoding** for tree-based algorithm compatibility.</a:t>
            </a:r>
            <a:endParaRPr lang="en-US" sz="1500" b="0" i="0" u="none" strike="noStrike" cap="non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8" name="Google Shape;228;p18"/>
          <p:cNvSpPr txBox="1"/>
          <p:nvPr/>
        </p:nvSpPr>
        <p:spPr>
          <a:xfrm>
            <a:off x="6915150" y="6067425"/>
            <a:ext cx="4410075" cy="790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Time Features: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Raw timestamp strings were engineered into categorical `Time of Day` features (e.g., Morning, Peak Evening) to capture diurnal patterns.</a:t>
            </a:r>
            <a:endParaRPr lang="en-US" sz="1500" b="0" i="0" u="none" strike="noStrike" cap="non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9" name="Google Shape;229;p18"/>
          <p:cNvSpPr txBox="1"/>
          <p:nvPr/>
        </p:nvSpPr>
        <p:spPr>
          <a:xfrm>
            <a:off x="866775" y="3152775"/>
            <a:ext cx="10477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lang="en-US" sz="1800" b="1" i="0" u="none" strike="noStrike" cap="none">
              <a:solidFill>
                <a:srgbClr val="2563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0" name="Google Shape;230;p18"/>
          <p:cNvSpPr txBox="1"/>
          <p:nvPr/>
        </p:nvSpPr>
        <p:spPr>
          <a:xfrm>
            <a:off x="866775" y="3905885"/>
            <a:ext cx="10477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lang="en-US" sz="1800" b="1" i="0" u="none" strike="noStrike" cap="none">
              <a:solidFill>
                <a:srgbClr val="2563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1" name="Google Shape;231;p18"/>
          <p:cNvSpPr txBox="1"/>
          <p:nvPr/>
        </p:nvSpPr>
        <p:spPr>
          <a:xfrm>
            <a:off x="866775" y="4903470"/>
            <a:ext cx="104775" cy="43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lang="en-US" sz="1800" b="1" i="0" u="none" strike="noStrike" cap="none">
              <a:solidFill>
                <a:srgbClr val="2563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2" name="Google Shape;232;p18"/>
          <p:cNvSpPr txBox="1"/>
          <p:nvPr/>
        </p:nvSpPr>
        <p:spPr>
          <a:xfrm>
            <a:off x="866775" y="5953125"/>
            <a:ext cx="10477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lang="en-US" sz="1800" b="1" i="0" u="none" strike="noStrike" cap="none">
              <a:solidFill>
                <a:srgbClr val="2563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3" name="Google Shape;233;p18"/>
          <p:cNvSpPr txBox="1"/>
          <p:nvPr/>
        </p:nvSpPr>
        <p:spPr>
          <a:xfrm>
            <a:off x="6629400" y="1998345"/>
            <a:ext cx="10477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lang="en-US" sz="1800" b="1" i="0" u="none" strike="noStrike" cap="none">
              <a:solidFill>
                <a:srgbClr val="2563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4" name="Google Shape;234;p18"/>
          <p:cNvSpPr txBox="1"/>
          <p:nvPr/>
        </p:nvSpPr>
        <p:spPr>
          <a:xfrm>
            <a:off x="6629400" y="2793365"/>
            <a:ext cx="10477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lang="en-US" sz="1800" b="1" i="0" u="none" strike="noStrike" cap="none">
              <a:solidFill>
                <a:srgbClr val="2563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5" name="Google Shape;235;p18"/>
          <p:cNvSpPr txBox="1"/>
          <p:nvPr/>
        </p:nvSpPr>
        <p:spPr>
          <a:xfrm>
            <a:off x="6629400" y="4541520"/>
            <a:ext cx="10477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lang="en-US" sz="1800" b="1" i="0" u="none" strike="noStrike" cap="none">
              <a:solidFill>
                <a:srgbClr val="2563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6" name="Google Shape;236;p18"/>
          <p:cNvSpPr txBox="1"/>
          <p:nvPr/>
        </p:nvSpPr>
        <p:spPr>
          <a:xfrm>
            <a:off x="6629400" y="5993130"/>
            <a:ext cx="10477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lang="en-US" sz="1800" b="1" i="0" u="none" strike="noStrike" cap="none">
              <a:solidFill>
                <a:srgbClr val="2563EB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19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308645" y="2486025"/>
            <a:ext cx="51435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19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3190875"/>
            <a:ext cx="1988790" cy="168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19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3573660" y="2486025"/>
            <a:ext cx="51435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19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2836515" y="3190875"/>
            <a:ext cx="1988790" cy="199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19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5838676" y="2486025"/>
            <a:ext cx="51435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19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5101530" y="3190875"/>
            <a:ext cx="1988790" cy="199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19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8103691" y="2486025"/>
            <a:ext cx="51435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19" descr="image.png"/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7366545" y="3190875"/>
            <a:ext cx="1988790" cy="260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19" descr="image.png"/>
          <p:cNvPicPr preferRelativeResize="0"/>
          <p:nvPr/>
        </p:nvPicPr>
        <p:blipFill rotWithShape="1">
          <a:blip r:embed="rId9"/>
          <a:srcRect/>
          <a:stretch>
            <a:fillRect/>
          </a:stretch>
        </p:blipFill>
        <p:spPr>
          <a:xfrm>
            <a:off x="10368706" y="2486025"/>
            <a:ext cx="51435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19" descr="image.png"/>
          <p:cNvPicPr preferRelativeResize="0"/>
          <p:nvPr/>
        </p:nvPicPr>
        <p:blipFill rotWithShape="1">
          <a:blip r:embed="rId10"/>
          <a:srcRect/>
          <a:stretch>
            <a:fillRect/>
          </a:stretch>
        </p:blipFill>
        <p:spPr>
          <a:xfrm>
            <a:off x="9631560" y="3190875"/>
            <a:ext cx="1988790" cy="16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9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Methodology Pipeline</a:t>
            </a:r>
            <a:endParaRPr lang="en-US" sz="3150" b="1" i="0" u="none" strike="noStrike" cap="none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2" name="Google Shape;252;p19"/>
          <p:cNvSpPr/>
          <p:nvPr/>
        </p:nvSpPr>
        <p:spPr>
          <a:xfrm>
            <a:off x="571500" y="1200150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9"/>
          <p:cNvSpPr txBox="1"/>
          <p:nvPr/>
        </p:nvSpPr>
        <p:spPr>
          <a:xfrm>
            <a:off x="681800" y="3343275"/>
            <a:ext cx="176818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Clean</a:t>
            </a:r>
            <a:endParaRPr lang="en-US" sz="2100" b="1" i="0" u="none" strike="noStrike" cap="none">
              <a:solidFill>
                <a:srgbClr val="2563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5" name="Google Shape;255;p19"/>
          <p:cNvSpPr txBox="1"/>
          <p:nvPr/>
        </p:nvSpPr>
        <p:spPr>
          <a:xfrm>
            <a:off x="723900" y="3810000"/>
            <a:ext cx="168399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Dropped irrelevant IDs and timestamps.</a:t>
            </a:r>
            <a:endParaRPr lang="en-US" sz="1500" b="0" i="0" u="none" strike="noStrike" cap="non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6" name="Google Shape;256;p19"/>
          <p:cNvSpPr txBox="1"/>
          <p:nvPr/>
        </p:nvSpPr>
        <p:spPr>
          <a:xfrm>
            <a:off x="2946815" y="3343275"/>
            <a:ext cx="176818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Transform</a:t>
            </a:r>
            <a:endParaRPr lang="en-US" sz="2100" b="1" i="0" u="none" strike="noStrike" cap="none">
              <a:solidFill>
                <a:srgbClr val="2563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7" name="Google Shape;257;p19"/>
          <p:cNvSpPr txBox="1"/>
          <p:nvPr/>
        </p:nvSpPr>
        <p:spPr>
          <a:xfrm>
            <a:off x="2988915" y="3810000"/>
            <a:ext cx="168399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Applied Log Transform to normalize skewed amount data.</a:t>
            </a:r>
            <a:endParaRPr dirty="0"/>
          </a:p>
        </p:txBody>
      </p:sp>
      <p:sp>
        <p:nvSpPr>
          <p:cNvPr id="258" name="Google Shape;258;p19"/>
          <p:cNvSpPr txBox="1"/>
          <p:nvPr/>
        </p:nvSpPr>
        <p:spPr>
          <a:xfrm>
            <a:off x="5211830" y="3343275"/>
            <a:ext cx="176818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Model</a:t>
            </a:r>
            <a:endParaRPr lang="en-US" sz="2100" b="1" i="0" u="none" strike="noStrike" cap="none">
              <a:solidFill>
                <a:srgbClr val="2563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9" name="Google Shape;259;p19"/>
          <p:cNvSpPr txBox="1"/>
          <p:nvPr/>
        </p:nvSpPr>
        <p:spPr>
          <a:xfrm>
            <a:off x="5253930" y="3810000"/>
            <a:ext cx="168399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Trained tree ensembles (Random Forest, XGBoost).</a:t>
            </a:r>
            <a:endParaRPr lang="en-US" sz="1500" b="0" i="0" u="none" strike="noStrike" cap="non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0" name="Google Shape;260;p19"/>
          <p:cNvSpPr txBox="1"/>
          <p:nvPr/>
        </p:nvSpPr>
        <p:spPr>
          <a:xfrm>
            <a:off x="7476845" y="3343275"/>
            <a:ext cx="176818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Simulate</a:t>
            </a:r>
            <a:endParaRPr lang="en-US" sz="2100" b="1" i="0" u="none" strike="noStrike" cap="none">
              <a:solidFill>
                <a:srgbClr val="2563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1" name="Google Shape;261;p19"/>
          <p:cNvSpPr txBox="1"/>
          <p:nvPr/>
        </p:nvSpPr>
        <p:spPr>
          <a:xfrm>
            <a:off x="7518945" y="3810000"/>
            <a:ext cx="168399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Realism Engine: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Applied logic to reflect infrastructure-based spending constraints.</a:t>
            </a:r>
            <a:endParaRPr lang="en-US" sz="1500" b="0" i="0" u="none" strike="noStrike" cap="non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2" name="Google Shape;262;p19"/>
          <p:cNvSpPr txBox="1"/>
          <p:nvPr/>
        </p:nvSpPr>
        <p:spPr>
          <a:xfrm>
            <a:off x="9741861" y="3343275"/>
            <a:ext cx="176818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Explain</a:t>
            </a:r>
            <a:endParaRPr lang="en-US" sz="2100" b="1" i="0" u="none" strike="noStrike" cap="none">
              <a:solidFill>
                <a:srgbClr val="2563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3" name="Google Shape;263;p19"/>
          <p:cNvSpPr txBox="1"/>
          <p:nvPr/>
        </p:nvSpPr>
        <p:spPr>
          <a:xfrm>
            <a:off x="9783960" y="3810000"/>
            <a:ext cx="168399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Used SHAP values for interpretability.</a:t>
            </a:r>
            <a:endParaRPr lang="en-US" sz="1500" b="0" i="0" u="none" strike="noStrike" cap="non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emini_Generated_Image_z07c13z07c13z07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190" y="360045"/>
            <a:ext cx="11555730" cy="54089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20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286500" y="2603003"/>
            <a:ext cx="5334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0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276975" y="1178421"/>
            <a:ext cx="5334000" cy="1291232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0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SHAP Analysis: Decoding the 'Why'</a:t>
            </a:r>
            <a:endParaRPr lang="en-US" sz="3150" b="1" i="0" u="none" strike="noStrike" cap="none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1" name="Google Shape;271;p20"/>
          <p:cNvSpPr/>
          <p:nvPr/>
        </p:nvSpPr>
        <p:spPr>
          <a:xfrm>
            <a:off x="571500" y="1200150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0"/>
          <p:cNvSpPr txBox="1"/>
          <p:nvPr/>
        </p:nvSpPr>
        <p:spPr>
          <a:xfrm>
            <a:off x="571500" y="1609725"/>
            <a:ext cx="53340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We utilized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SHAP (Shapley Additive exPlanations)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to break down the "Black Box" nature of the model. It assigns a precise contribution value to every feature for each individual prediction.</a:t>
            </a:r>
            <a:endParaRPr lang="en-US" sz="1500" b="0" i="0" u="none" strike="noStrike" cap="non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3" name="Google Shape;273;p20"/>
          <p:cNvSpPr txBox="1"/>
          <p:nvPr/>
        </p:nvSpPr>
        <p:spPr>
          <a:xfrm>
            <a:off x="571500" y="3114675"/>
            <a:ext cx="56007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Key Insights</a:t>
            </a:r>
            <a:endParaRPr lang="en-US" sz="2100" b="1" i="0" u="none" strike="noStrike" cap="none">
              <a:solidFill>
                <a:srgbClr val="2563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5" name="Google Shape;275;p20"/>
          <p:cNvSpPr txBox="1"/>
          <p:nvPr/>
        </p:nvSpPr>
        <p:spPr>
          <a:xfrm>
            <a:off x="857250" y="3581400"/>
            <a:ext cx="5048250" cy="110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Global Interpretability: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Aggregating SHAP values reveals that features like </a:t>
            </a:r>
            <a:r>
              <a:rPr lang="en-US" sz="1500" b="0" i="1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Merchant Category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and </a:t>
            </a:r>
            <a:r>
              <a:rPr lang="en-US" sz="1500" b="0" i="1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Sender 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are the primary drivers of transaction value.</a:t>
            </a:r>
            <a:endParaRPr lang="en-US" sz="1500" b="0" i="0" u="none" strike="noStrike" cap="non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6" name="Google Shape;276;p20"/>
          <p:cNvSpPr txBox="1"/>
          <p:nvPr/>
        </p:nvSpPr>
        <p:spPr>
          <a:xfrm>
            <a:off x="857250" y="4914900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Feature Impact: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The summary plot (right) visualizes the magnitude and direction of each feature's impact on the final prediction.</a:t>
            </a:r>
            <a:endParaRPr dirty="0"/>
          </a:p>
        </p:txBody>
      </p:sp>
      <p:sp>
        <p:nvSpPr>
          <p:cNvPr id="277" name="Google Shape;277;p20"/>
          <p:cNvSpPr txBox="1"/>
          <p:nvPr/>
        </p:nvSpPr>
        <p:spPr>
          <a:xfrm>
            <a:off x="6443662" y="1214437"/>
            <a:ext cx="50006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"Visualizing the Divide: Users with higher Tech Scores consistently demonstrate higher spending capacity."</a:t>
            </a:r>
            <a:endParaRPr dirty="0"/>
          </a:p>
        </p:txBody>
      </p:sp>
      <p:sp>
        <p:nvSpPr>
          <p:cNvPr id="278" name="Google Shape;278;p20"/>
          <p:cNvSpPr txBox="1"/>
          <p:nvPr/>
        </p:nvSpPr>
        <p:spPr>
          <a:xfrm>
            <a:off x="571500" y="3562350"/>
            <a:ext cx="10477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lang="en-US" sz="1800" b="1" i="0" u="none" strike="noStrike" cap="none">
              <a:solidFill>
                <a:srgbClr val="2563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9" name="Google Shape;279;p20"/>
          <p:cNvSpPr txBox="1"/>
          <p:nvPr/>
        </p:nvSpPr>
        <p:spPr>
          <a:xfrm>
            <a:off x="571500" y="4895850"/>
            <a:ext cx="10477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lang="en-US" sz="1800" b="1" i="0" u="none" strike="noStrike" cap="none">
              <a:solidFill>
                <a:srgbClr val="2563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3175" y="2583953"/>
            <a:ext cx="5257800" cy="4163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1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Conclusion &amp; Strategic Insights</a:t>
            </a:r>
            <a:endParaRPr lang="en-US" sz="3150" b="1" i="0" u="none" strike="noStrike" cap="none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6" name="Google Shape;286;p21"/>
          <p:cNvSpPr/>
          <p:nvPr/>
        </p:nvSpPr>
        <p:spPr>
          <a:xfrm>
            <a:off x="571500" y="1200150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1"/>
          <p:cNvSpPr txBox="1"/>
          <p:nvPr/>
        </p:nvSpPr>
        <p:spPr>
          <a:xfrm>
            <a:off x="571500" y="1996529"/>
            <a:ext cx="56007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Key Strategic Takeaways</a:t>
            </a:r>
            <a:endParaRPr lang="en-US" sz="2100" b="1" i="0" u="none" strike="noStrike" cap="none">
              <a:solidFill>
                <a:srgbClr val="2563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9" name="Google Shape;289;p21"/>
          <p:cNvSpPr txBox="1"/>
          <p:nvPr/>
        </p:nvSpPr>
        <p:spPr>
          <a:xfrm>
            <a:off x="571500" y="2463254"/>
            <a:ext cx="5334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Ensembles Win</a:t>
            </a:r>
            <a:endParaRPr lang="en-US" sz="1800" b="1" i="0" u="none" strike="noStrike" cap="none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0" name="Google Shape;290;p21"/>
          <p:cNvSpPr txBox="1"/>
          <p:nvPr/>
        </p:nvSpPr>
        <p:spPr>
          <a:xfrm>
            <a:off x="571500" y="2924175"/>
            <a:ext cx="53340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Random Forest and XGBoost significantly outperformed the baseline, successfully capturing the complex, non-linear spending behaviors that simpler linear models missed.</a:t>
            </a:r>
            <a:endParaRPr lang="en-US" sz="1500" b="0" i="0" u="none" strike="noStrike" cap="non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1" name="Google Shape;291;p21"/>
          <p:cNvSpPr txBox="1"/>
          <p:nvPr/>
        </p:nvSpPr>
        <p:spPr>
          <a:xfrm>
            <a:off x="571500" y="4524375"/>
            <a:ext cx="5334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Digital Infrastructure</a:t>
            </a:r>
            <a:endParaRPr lang="en-US" sz="1800" b="1" i="0" u="none" strike="noStrike" cap="none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2" name="Google Shape;292;p21"/>
          <p:cNvSpPr txBox="1"/>
          <p:nvPr/>
        </p:nvSpPr>
        <p:spPr>
          <a:xfrm>
            <a:off x="571500" y="4985295"/>
            <a:ext cx="5334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4G is the new economic baseline. The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'Digital Divide'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is quantifiable: low-tech users are effectively locked out of high-value commerce.</a:t>
            </a:r>
            <a:endParaRPr lang="en-US" sz="1500" b="0" i="0" u="none" strike="noStrike" cap="non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028" name="Picture 4" descr="What are Electronic Payments? 5 Payment Types Explained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6700" y="1343025"/>
            <a:ext cx="4849813" cy="4985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3119</Words>
  <Application>WPS Presentation</Application>
  <PresentationFormat>Widescreen</PresentationFormat>
  <Paragraphs>120</Paragraphs>
  <Slides>10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4" baseType="lpstr">
      <vt:lpstr>Arial</vt:lpstr>
      <vt:lpstr>SimSun</vt:lpstr>
      <vt:lpstr>Wingdings</vt:lpstr>
      <vt:lpstr>Inter</vt:lpstr>
      <vt:lpstr>Thonburi</vt:lpstr>
      <vt:lpstr>Calibri</vt:lpstr>
      <vt:lpstr>Microsoft YaHei</vt:lpstr>
      <vt:lpstr>汉仪旗黑</vt:lpstr>
      <vt:lpstr>Arial Unicode MS</vt:lpstr>
      <vt:lpstr>Calibri Light</vt:lpstr>
      <vt:lpstr>Helvetica Neue</vt:lpstr>
      <vt:lpstr>汉仪书宋二KW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SuganyaH</dc:creator>
  <cp:lastModifiedBy>Admirer</cp:lastModifiedBy>
  <cp:revision>9</cp:revision>
  <dcterms:created xsi:type="dcterms:W3CDTF">2025-12-02T04:46:29Z</dcterms:created>
  <dcterms:modified xsi:type="dcterms:W3CDTF">2025-12-02T04:46:29Z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A66200E1BCA8F0B2256F2E6997830F60_42</vt:lpwstr>
  </property>
  <property fmtid="{D5CDD505-2E9C-101B-9397-08002B2CF9AE}" pid="3" name="KSOProductBuildVer">
    <vt:lpwstr>1033-12.1.23152.23152</vt:lpwstr>
  </property>
</Properties>
</file>